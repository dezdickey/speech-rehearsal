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C6C982-3C5E-43E4-B726-C4FFF5DD03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A2898A-336C-45E2-AA42-C25A0B8189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ADEFF51-E1C4-4252-A288-6860AB6E2B4A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92000" y="1656000"/>
            <a:ext cx="8496000" cy="1008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US" sz="5400" b="1" u="none" strike="noStrike">
                <a:solidFill>
                  <a:srgbClr val="F4F7F9"/>
                </a:solidFill>
                <a:effectLst/>
                <a:uFillTx/>
                <a:latin typeface="Georgia"/>
              </a:rPr>
              <a:t>Street trees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792000" y="2736000"/>
            <a:ext cx="1440000" cy="43200"/>
          </a:xfrm>
          <a:prstGeom prst="rect">
            <a:avLst/>
          </a:prstGeom>
          <a:solidFill>
            <a:srgbClr val="2DD4A7"/>
          </a:solidFill>
          <a:ln w="0">
            <a:noFill/>
          </a:ln>
        </p:spPr>
        <p:txBody>
          <a:bodyPr lIns="90000" tIns="-1800" rIns="90000" bIns="-18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92000" y="2916000"/>
            <a:ext cx="8496000" cy="576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US" sz="2400" b="0" i="1" u="none" strike="noStrike">
                <a:solidFill>
                  <a:srgbClr val="2DD4A7"/>
                </a:solidFill>
                <a:effectLst/>
                <a:uFillTx/>
                <a:latin typeface="Segoe UI"/>
              </a:rPr>
              <a:t>Same sun. Different street.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92000" y="4896000"/>
            <a:ext cx="8496000" cy="36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US" sz="1400" b="0" u="none" strike="noStrike">
                <a:solidFill>
                  <a:srgbClr val="7C8B99"/>
                </a:solidFill>
                <a:effectLst/>
                <a:uFillTx/>
                <a:latin typeface="Segoe UI"/>
              </a:rPr>
              <a:t>Demo deck for Speech Rehearsal. Pairs with the app's built-in sample speech.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 txBox="1"/>
          <p:nvPr/>
        </p:nvSpPr>
        <p:spPr>
          <a:xfrm>
            <a:off x="792000" y="648000"/>
            <a:ext cx="8496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US" sz="3600" b="1" u="none" strike="noStrike">
                <a:solidFill>
                  <a:srgbClr val="F4F7F9"/>
                </a:solidFill>
                <a:effectLst/>
                <a:uFillTx/>
                <a:latin typeface="Georgia"/>
              </a:rPr>
              <a:t>The problem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792000" y="1440000"/>
            <a:ext cx="1080000" cy="36000"/>
          </a:xfrm>
          <a:prstGeom prst="rect">
            <a:avLst/>
          </a:prstGeom>
          <a:solidFill>
            <a:srgbClr val="2DD4A7"/>
          </a:solidFill>
          <a:ln w="0">
            <a:noFill/>
          </a:ln>
        </p:spPr>
        <p:txBody>
          <a:bodyPr lIns="90000" tIns="-9000" rIns="90000" bIns="-9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92000" y="1800000"/>
            <a:ext cx="8496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992"/>
              </a:spcAft>
            </a:pPr>
            <a:r>
              <a:rPr lang="en-US" sz="2200" b="0" u="none" strike="noStrike">
                <a:solidFill>
                  <a:srgbClr val="C9D3DA"/>
                </a:solidFill>
                <a:effectLst/>
                <a:uFillTx/>
                <a:latin typeface="Segoe UI"/>
              </a:rPr>
              <a:t>Roads and car parks soak up heat all day and give it back all night.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Aft>
                <a:spcPts val="992"/>
              </a:spcAft>
            </a:pPr>
            <a:r>
              <a:rPr lang="en-US" sz="2200" b="0" u="none" strike="noStrike">
                <a:solidFill>
                  <a:srgbClr val="C9D3DA"/>
                </a:solidFill>
                <a:effectLst/>
                <a:uFillTx/>
                <a:latin typeface="Segoe UI"/>
              </a:rPr>
              <a:t>Bare asphalt can be over 20 degrees hotter than the air above it.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Aft>
                <a:spcPts val="992"/>
              </a:spcAft>
            </a:pPr>
            <a:r>
              <a:rPr lang="en-US" sz="2200" b="0" u="none" strike="noStrike">
                <a:solidFill>
                  <a:srgbClr val="C9D3DA"/>
                </a:solidFill>
                <a:effectLst/>
                <a:uFillTx/>
                <a:latin typeface="Segoe UI"/>
              </a:rPr>
              <a:t>Higher cooling bills, worse sleep, and heatwave risk for older neighbours.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 txBox="1"/>
          <p:nvPr/>
        </p:nvSpPr>
        <p:spPr>
          <a:xfrm>
            <a:off x="792000" y="648000"/>
            <a:ext cx="8496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US" sz="3600" b="1" u="none" strike="noStrike">
                <a:solidFill>
                  <a:srgbClr val="F4F7F9"/>
                </a:solidFill>
                <a:effectLst/>
                <a:uFillTx/>
                <a:latin typeface="Georgia"/>
              </a:rPr>
              <a:t>What trees do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"/>
          <p:cNvSpPr/>
          <p:nvPr/>
        </p:nvSpPr>
        <p:spPr>
          <a:xfrm>
            <a:off x="792000" y="1440000"/>
            <a:ext cx="1080000" cy="36000"/>
          </a:xfrm>
          <a:prstGeom prst="rect">
            <a:avLst/>
          </a:prstGeom>
          <a:solidFill>
            <a:srgbClr val="2DD4A7"/>
          </a:solidFill>
          <a:ln w="0">
            <a:noFill/>
          </a:ln>
        </p:spPr>
        <p:txBody>
          <a:bodyPr lIns="90000" tIns="-9000" rIns="90000" bIns="-9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92000" y="1800000"/>
            <a:ext cx="8496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992"/>
              </a:spcAft>
            </a:pPr>
            <a:r>
              <a:rPr lang="en-US" sz="2200" b="0" u="none" strike="noStrike">
                <a:solidFill>
                  <a:srgbClr val="C9D3DA"/>
                </a:solidFill>
                <a:effectLst/>
                <a:uFillTx/>
                <a:latin typeface="Segoe UI"/>
              </a:rPr>
              <a:t>Shade: the canopy stops the sun before it reaches the asphalt.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Aft>
                <a:spcPts val="992"/>
              </a:spcAft>
            </a:pPr>
            <a:r>
              <a:rPr lang="en-US" sz="2200" b="0" u="none" strike="noStrike">
                <a:solidFill>
                  <a:srgbClr val="C9D3DA"/>
                </a:solidFill>
                <a:effectLst/>
                <a:uFillTx/>
                <a:latin typeface="Segoe UI"/>
              </a:rPr>
              <a:t>Evaporation: leaves release water, which cools the air around them.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2400" b="0" i="1" u="none" strike="noStrike">
                <a:solidFill>
                  <a:srgbClr val="2DD4A7"/>
                </a:solidFill>
                <a:effectLst/>
                <a:uFillTx/>
                <a:latin typeface="Segoe UI"/>
              </a:rPr>
              <a:t>Not a gadget. A plant.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 txBox="1"/>
          <p:nvPr/>
        </p:nvSpPr>
        <p:spPr>
          <a:xfrm>
            <a:off x="792000" y="648000"/>
            <a:ext cx="8496000" cy="72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/>
            <a:r>
              <a:rPr lang="en-US" sz="3600" b="1" u="none" strike="noStrike">
                <a:solidFill>
                  <a:srgbClr val="F4F7F9"/>
                </a:solidFill>
                <a:effectLst/>
                <a:uFillTx/>
                <a:latin typeface="Georgia"/>
              </a:rPr>
              <a:t>The ask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792000" y="1440000"/>
            <a:ext cx="1080000" cy="36000"/>
          </a:xfrm>
          <a:prstGeom prst="rect">
            <a:avLst/>
          </a:prstGeom>
          <a:solidFill>
            <a:srgbClr val="2DD4A7"/>
          </a:solidFill>
          <a:ln w="0">
            <a:noFill/>
          </a:ln>
        </p:spPr>
        <p:txBody>
          <a:bodyPr lIns="90000" tIns="-9000" rIns="90000" bIns="-9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792000" y="1800000"/>
            <a:ext cx="8496000" cy="2880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>
              <a:spcAft>
                <a:spcPts val="992"/>
              </a:spcAft>
            </a:pPr>
            <a:r>
              <a:rPr lang="en-US" sz="2200" b="0" u="none" strike="noStrike">
                <a:solidFill>
                  <a:srgbClr val="C9D3DA"/>
                </a:solidFill>
                <a:effectLst/>
                <a:uFillTx/>
                <a:latin typeface="Segoe UI"/>
              </a:rPr>
              <a:t>Pick one street near you with no trees.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spcAft>
                <a:spcPts val="992"/>
              </a:spcAft>
            </a:pPr>
            <a:r>
              <a:rPr lang="en-US" sz="2200" b="0" u="none" strike="noStrike">
                <a:solidFill>
                  <a:srgbClr val="C9D3DA"/>
                </a:solidFill>
                <a:effectLst/>
                <a:uFillTx/>
                <a:latin typeface="Segoe UI"/>
              </a:rPr>
              <a:t>Ask your council to plant some.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/>
            <a:r>
              <a:rPr lang="en-US" sz="2400" b="0" i="1" u="none" strike="noStrike">
                <a:solidFill>
                  <a:srgbClr val="2DD4A7"/>
                </a:solidFill>
                <a:effectLst/>
                <a:uFillTx/>
                <a:latin typeface="Segoe UI"/>
              </a:rPr>
              <a:t>It starts with one email.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LibreOffice/26.2.1.2$Windows_X86_64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>Street trees (demo deck)</dc:title>
</cp:coreProperties>
</file>